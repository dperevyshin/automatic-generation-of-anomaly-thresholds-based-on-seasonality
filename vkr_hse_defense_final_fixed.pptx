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6" r:id="rId13"/>
    <p:sldId id="274" r:id="rId14"/>
    <p:sldId id="275" r:id="rId15"/>
    <p:sldId id="277" r:id="rId16"/>
    <p:sldId id="27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575"/>
  </p:normalViewPr>
  <p:slideViewPr>
    <p:cSldViewPr snapToGrid="0" snapToObjects="1">
      <p:cViewPr varScale="1">
        <p:scale>
          <a:sx n="112" d="100"/>
          <a:sy n="112" d="100"/>
        </p:scale>
        <p:origin x="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36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Уважаемые члены комиссии, добрый день. Меня зовут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Перевышин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Дмитрий Петрович. Тема моей выпускной квалификационной работы — «Автоматическая выработка порогов аномалий с учетом сезонности».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руководством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Паточенко Евгения Анатольевича.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центре работы находится практическая задача обнаружения аномалий во временных рядах. Но основной акцент сделан не просто на построении детектора, а на том, как автоматически выбирать порог аномальности в условиях сезонности, тренда и меняющегося нормального режима ряда.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Начну с основной проблемы. Во многих системах мониторинга до сих пор используется фиксированный порог: если значение выше или ниже некоторой границы, оно считается аномальным. Такой подход понятен и удобен, но для сезонных временных рядов он слишком грубый.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Нормальный диапазон значений меняется во времени. Например, высокая нагрузка днем может быть нормой, а такое же значение ночью — уже подозрительным. Поэтому один глобальный порог смешивает разные часы, дни недели и режимы работы ряда.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Практическая проблема здесь не только в пропусках аномалий, но и в ложных тревогах. Если система слишком часто сигнализирует о проблеме там, где ее нет, оператор перестает доверять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алертам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Поэтому в работе я отдельно оцениваю не только качество на тестовой части, но и уровень ложных срабатываний на нормальном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Именно поэтому в качестве ключевой метрики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0.5, где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важнее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я формализую задачу. Работа исследует не один конкретный детектор, а автоматическую калибровку порога поверх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anomaly 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входе дан сезонный временной ряд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нормальный обучающий участок до первой размеченной аномалии и тестовый участок с интервальной разметкой аномалий. Нужно построить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anomaly score 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автоматически выбрать порог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получить бинарное решение: норма или аномалия.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Важно, что у задачи есть ограничения. Во-первых, нельзя вручную подбирать порог под каждый ряд, иначе это не автоматический подход. Во-вторых, нельзя использовать будущие данные при калибровке, потому что в реальном мониторинге будущее неизвестно. В-третьих, нужно учитывать временной и сезонный контекст.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Исследовательский вопрос звучит так: как разные правила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ведут себя на сезонных рядах с разной природой аномалий? Поэтому дальше я сравниваю не только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0.5, но также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ложные срабатывания на нормальном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Всего в едином протоколе выполнено 504 запуска: 4 способа построения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4 типа калибровки порога с разными параметрами.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классических статистических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подходах сначала удаляют сезонность и тренд, а затем анализируют остатки.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-подходах порог связывается с допустимым риском экстремальных значений.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подходах сначала строится прогноз, после чего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порогируется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ошибка прогноза. В промышленных системах мониторинга — например,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EGADS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Datadog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VictoriaMetrics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моделирование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алертинг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разделены: отдельно строятся ожидаемые значения, отдельно задаются правила срабатывания и восстановления.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этого следует исследовательская ниша моей работы. В литературе нет универсального правила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которое одинаково хорошо работало бы на всех сезонных рядах. Поэтому я не пытаюсь предложить одну универсальную модель. Вместо этого я исследую, как разные правила калибровки порога меняют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 разных типах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разных типах аномалий.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экспериментов использованы три временных ряда из набора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ряд количества пассажиров нью-йоркского такси, ряд температуры окружающей среды и ряд загрузки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Они выбраны потому, что отличаются не только размером и долей аномалий, но и самой природой аномального поведения.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использован сезонный период 48 наблюдений, доля аномалий составляет 17,35%. Для температуры период 24, доля аномалий 33,85%.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период 12, доля аномалий 4,5%. Важно, что разметка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задает аномальные окна, то есть интервалы, а не отдельные точки.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работе качество считается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наблюдениям. Такой вариант выбран, потому что он позволяет напрямую сравнивать разные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rules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для каждой точки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порог и бинарное решение. При этом я честно фиксирую ограничение: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scoring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классическая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 scoring methodology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вынесены за пределы текущего эксперимента и могут быть отдельным продолжением работы.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построением моделей был проведен предварительный анализ. На этом слайде показана автокорреляционная функция для трех рядов.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здесь используется не как метод обнаружения аномалий, а как способ подтвердить сезонную структуру и выбрать период для моделей.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видны повторяющиеся пики с периодом 48 наблюдений. Для температуры выраженный сезонный паттерн соответствует периоду 24.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выбран период 12. Эти значения дальше используются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-декомпозиции,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Winters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при построении признаков для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слайд важен для логики исследования: я не выбираю сезонные периоды произвольно. Они предварительно подтверждаются на данных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следующем этапе я использовал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-декомпозицию, чтобы разделить ряд на тренд, сезонную компоненту и остаток. Это позволяет понять, где именно проявляется аномальное поведение.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аномалии часто выглядят как интервальные пики спроса и заметные остаточные всплески. Для температуры важны не только остатки, но и тренд: аномалия может выглядеть как длительный уход от сезонного режима.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аномалии заметнее проявляются через остаток и изменение дисперсии.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Главный вывод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разные ряды дают разные типы отклонений. Поэтому в эксперименте нужно сравнивать не только способы построения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и правила автоматической калибровки порога.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я показываю протокол оценки. Разбиение выполняется по времени: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нормальный участок до первой размеченной аномалии,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все последующие наблюдения, начиная с первого аномального окна. Это позволяет избежать утечки будущей информации и приблизить эксперимент к реальному мониторингу.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Поскольку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состоит из нормального участка, любое срабатывание на нем считается ложной тревогой. Поэтому я ввожу отдельную метрику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 rate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показывает, насколько метод шумит там, где по разметке аномалий быть не должно.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выбран потому, что работа ориентирована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heavy monitoring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таких системах лишние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перегружают оператора и снижают доверие к системе. Формула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показывает, что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0,5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получает больший вес. Но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 этом не скрывается: он остается в таблицах, чтобы было видно, не выигрывает ли метод только за счет подавления всех срабатываний.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я реализовал три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-подхода. Первый — статический квантильный порог: нижняя и верхняя границы задаются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простой и интерпретируемый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он не учитывает сезонность.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исходном временном ряду. Значение считается аномальным, если модуль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превышает 2. Этот метод также использует глобальные статистики и поэтому плохо работает, если нормальный диапазон зависит от времени.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— STL + z-score.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сначала из ряда удаляются тренд и сезонность, после чего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считается уже по остаточной компоненте. Это более осмысленный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сезонных рядов, но пороговое правило все равно остается простым и фиксированным.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показывают, почему простых правил недостаточно. Статический квантильный порог оказался лучшим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0.5, но у него есть критический недостаток: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около 40% на всех трех рядах. Это неслучайно: при порогах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значительная часть нормального диапазона оказывается за пределами интервала. Для промышленного мониторинга такой уровень ложных тревог неприемлем.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наоборот, часто дает низкий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очень низкий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Например,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 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всего 0,018, для температуры 0,115,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0,169. Это означает, что метод часто срабатывает вне размеченных аномальных интервалов.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частично учитывает сезонность, но тоже не решает задачу полностью.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почти единица, но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остается 0,322. То есть метод находит много аномалий, но вместе с ними дает много лишних срабатываний. Отсюда главный вывод: даже после построения хорошего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нужна отдельная и более гибкая калибровка порога.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 я показываю, какие именно комбинации сравнивались. В левой части — пример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модель строит прогноз, затем отклонение факта от прогноза превращается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Ниже показан вариант с прогнозным интервалом: аномалия фиксируется, если фактическое значение выходит за ожидаемый диапазон.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правой части слайда перечислены четыре способа построения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четыре правила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 methods: STL-score, Holt-Winters error, Adaptive Holt-Winters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Threshold rules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статический порог, скользящий квантиль, контекстный порог и прогнозный интервал.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корректности эксперимента важно, что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 threshold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считается только по прошлым значениям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 threshold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задает порог для временного контекста, 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 interval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 ожидаемый диапазон прогноза. То есть в каждом варианте я отдельно фиксирую, откуда берется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как именно выбирается порог.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схема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search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Важно подчеркнуть: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search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здесь нужен не для того, чтобы объявить один лучший алгоритм вообще, а для сопоставимого сравнения правил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одном протоколе.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-моделей использовались фиксированные настройки: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строится по остатку после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Winters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по ошибке прогноза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additive trend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seasonality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Adaptive Holt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Winters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переобучается раз в сезон,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 календарные признаки и параметры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=300,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=4.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rules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перебирались параметры: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threshold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набора 2,0; 2,5; 3,0;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 quantile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размер окна;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тип контекста;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 interval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итоге получается 3 датасета, 4 способа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42 конфигурации, всего 504 запуска.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образом, все методы сравниваются в одной логике: ряд и разметка →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метрики.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6187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я показываю не только таблицы метрик, но и визуальный характер детекции. Это важно, потому что одинаковое значение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может соответствовать разному поведению модели: плотным срабатываниям, редким точным попаданиям или пропущенным участкам.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лучший результат связан с тем, что аномалии хорошо проявляются через остаточную компоненту, поэтому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контекстным порогом дает высокую точность. Для температуры хорошо работает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 quantile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модель лучше улавливает тренд и локальную структуру ряда, но часть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остается платой за чувствительность.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видно сильное снижение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детекция становится более консервативной: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растет, 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снижается.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по графикам такой: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меняет не только итоговую метрику, но и визуальный характер детекции — число ложных срабатываний, плотность точек и пропущенные участки.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я фиксирую вклад работы. Авторский результат состоит не в том, что я просто запустил несколько известных методов, а в том, что я сформулировал и проверил модульную схему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едином экспериментальном протоколе.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работе сравнены 4 типа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4 правила порога на сезонных рядах. Показано, что выбор порога существенно влияет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Также видно, что оптимальная связка зависит от природы ряда: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лучше описывает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температура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выигрывают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адаптации.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 тоже важно проговорить. В работе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wise scoring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потому что он удобен для сопоставления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rules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scoring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 scoring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отвергаются, но остаются отдельным направлением проверки. Также на других доменах и при сильном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 drift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результаты нужно валидировать дополнительно.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013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приведено итоговое сравнение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лучших связок по каждому датасету.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static quantile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= 0,837, а лучшая связка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дает 0,922.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 этом растет с 0,862 до 0,981,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почти сохраняется: 0,749 против 0,744.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температуры рост сильнее: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= 0,451,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 quantile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дает 0,805.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растет с 0,431 до 0,797,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повышается с 0,555 до 0,841. Это показывает, что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адаптация лучше описывает температурный ряд с трендом.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 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растет с 0,413 до 0,611,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снижается с 0,400 до 0,011,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повышается до 0,913. Но здесь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падает до 0,263. Я это не скрываю, потому что этот результат отражает смысл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0.5: модель становится гораздо точнее и тише, но более консервативной. Для другого сценария можно было бы выбрать другой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другой порог.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5731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финальном слайде собраны основные результаты.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лучшая связка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дает рост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примерно на 10,2%. Для температуры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CatBoost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 quantile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дает рост примерно на 78,7%.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самое заметное практическое изменение — снижение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97,1%.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Основной вывод работы: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существенно влияет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FP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лучшая комбинация зависит от природы ряда. Поэтому нельзя один раз выбрать универсальный порог для всех сезонных временных рядов. Порог нужно калибровать как отдельный слой системы.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Практический смысл состоит в том, что такой подход позволяет снижать шум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без жесткой привязки к одной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-модели. В систему можно добавить другой прогнозный метод или другой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слой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calibration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остается отдельным и управляемым. Именно это делает предложенную схему полезной для задач мониторинга временных рядов.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образом, в работе показано, что в сезонных временных рядах задача обнаружения аномалий не сводится только к построению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Пороговая калибровка является самостоятельным источником качества, влияет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ложные срабатывания, а потому должна проектироваться и оцениваться отдельно. Спасибо за внимание, я готов ответить на вопросы.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70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hse_template_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01" y="804672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2456" y="9052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НИУ ВШЭ · Факультет компьютерных наук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05840" y="1664208"/>
            <a:ext cx="5532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выработка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порогов аномалий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учётом сезонности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987552" y="4315968"/>
            <a:ext cx="6053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Перевышин Дмитрий Петрович</a:t>
            </a:r>
            <a:endParaRPr lang="en-US" sz="1600" dirty="0"/>
          </a:p>
          <a:p>
            <a:r>
              <a:rPr lang="en-US" sz="16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руководитель: </a:t>
            </a:r>
            <a:r>
              <a:rPr lang="ru-RU" sz="1600" dirty="0" err="1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Паточенко</a:t>
            </a:r>
            <a:r>
              <a:rPr lang="ru-RU" sz="16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Евгений Анатольевич</a:t>
            </a:r>
            <a:endParaRPr lang="en-US" sz="1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24C939C-5A36-AF94-F167-F5EA2C2E7F77}"/>
              </a:ext>
            </a:extLst>
          </p:cNvPr>
          <p:cNvSpPr/>
          <p:nvPr/>
        </p:nvSpPr>
        <p:spPr>
          <a:xfrm>
            <a:off x="5446623" y="56967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</a:t>
            </a:r>
            <a:r>
              <a:rPr lang="en-US" sz="16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фиксированный порог не учитывает сезонный контекст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глобальный порог смешивает разные часы, дни недели и режимы работы ряда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78181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818120" y="1874520"/>
            <a:ext cx="3429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нормальный диапазон меняется во времени
• одинаковое значение может быть нормой или аномалией
• много ложных тревог снижает доверие к алертам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81812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F0.5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7818120" y="4462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в пользу precision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4640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FP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9464040" y="44622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оценка шума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69053"/>
            <a:ext cx="6629400" cy="3729038"/>
          </a:xfrm>
          <a:prstGeom prst="rect">
            <a:avLst/>
          </a:prstGeom>
        </p:spPr>
      </p:pic>
      <p:pic>
        <p:nvPicPr>
          <p:cNvPr id="3" name="Image 1" descr="/mnt/data/hse_template_media/image5.png">
            <a:extLst>
              <a:ext uri="{FF2B5EF4-FFF2-40B4-BE49-F238E27FC236}">
                <a16:creationId xmlns:a16="http://schemas.microsoft.com/office/drawing/2014/main" id="{A85AC78B-6B8A-AFA7-B833-482CBFA4F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" y="16002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Формальная постановка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Работа исследует не один детектор, а автоматическую калибровку порога поверх anomaly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450000"/>
            <a:ext cx="3154680" cy="11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Дано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сезонный временной ряд x_t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нормальный обучающий участок до первой аномалии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разметка аномальных интервалов на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780000"/>
            <a:ext cx="3154680" cy="11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Требуется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построить anomaly score s_t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автоматически выбрать threshold τ_t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снизить FP при сохранении качества обнаружения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110000"/>
            <a:ext cx="3154680" cy="11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Ограничения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без ручной настройки порога под каждый ряд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без утечки будущих данных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с учётом сезонного и временного контекста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00000"/>
            <a:ext cx="6172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3B6B"/>
                </a:solidFill>
                <a:latin typeface="Arial"/>
              </a:rPr>
              <a:t>Исследовательский вопрос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3374E"/>
                </a:solidFill>
                <a:latin typeface="Arial"/>
              </a:rPr>
              <a:t>Как разные правила threshold calibration ведут себя на сезонных рядах с разной природой аномалий?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3374E"/>
                </a:solidFill>
                <a:latin typeface="Arial"/>
              </a:rPr>
              <a:t>Сравниваются не только значения F0.5, но и precision, recall и ложные срабатывания на нормальном train.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230000"/>
            <a:ext cx="6172200" cy="159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53B6B"/>
                </a:solidFill>
                <a:latin typeface="Arial"/>
              </a:rPr>
              <a:t>Экспериментальная постановка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3374E"/>
                </a:solidFill>
                <a:latin typeface="Arial"/>
              </a:rPr>
              <a:t>• score: STL, Holt-Winters, adaptive HW, adaptive CatBoost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3374E"/>
                </a:solidFill>
                <a:latin typeface="Arial"/>
              </a:rPr>
              <a:t>• threshold: static, rolling quantile, context-aware, prediction interval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3374E"/>
                </a:solidFill>
                <a:latin typeface="Arial"/>
              </a:rPr>
              <a:t>• 3 датасета NAB, 504 запуска в едином протоколе</a:t>
            </a:r>
          </a:p>
        </p:txBody>
      </p:sp>
      <p:pic>
        <p:nvPicPr>
          <p:cNvPr id="13" name="Image 1" descr="/mnt/data/hse_template_media/image5.png">
            <a:extLst>
              <a:ext uri="{FF2B5EF4-FFF2-40B4-BE49-F238E27FC236}">
                <a16:creationId xmlns:a16="http://schemas.microsoft.com/office/drawing/2014/main" id="{61C5A5B5-FB30-EB14-EB7A-72E3B2167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Обзор литературы и исследовательская ниша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Порог рассматривается как отдельный слой decision logic, а не как техническая деталь score-модели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0000"/>
          <a:ext cx="1097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53B6B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53B6B"/>
                          </a:solidFill>
                          <a:latin typeface="Arial"/>
                        </a:rPr>
                        <a:t>Опорные источники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53B6B"/>
                          </a:solidFill>
                          <a:latin typeface="Arial"/>
                        </a:rPr>
                        <a:t>Что важно для ВКР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Классическая статистика и residual-based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Hochenbaum, Vallis, Kejariwal, 2017; Kats OutlierDetector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сначала снять сезонность, затем анализировать остаток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EVT / POT / SPOT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Siffer, Fouque, Termier, Largouët, KDD 2017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порог связывается с допустимым риском экстремальных значений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Forecast-based anomaly detection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Hundman et al., 2018; Holt-Winters / prediction errors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score строится как ошибка прогноза, затем отдельно порогируется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Модульные системы мониторинга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Laptev, Amizadeh, Flint, EGADS, KDD 2015; Datadog; VictoriaMetrics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modeling и alerting разделены, важны окна, сезонность и шум алертов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Adaptive thresholding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Yang, Howley, Schukat, ADT, 2023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threshold selection формулируется как оптимизируемая политика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" y="4700000"/>
            <a:ext cx="10240000" cy="95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Ниша работы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В литературе нет универсального threshold calibration для сезонных рядов.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Эта работа исследует, как правила калибровки порога меняют precision, recall, F0.5 и Train FP при разных типах score и аномалий.</a:t>
            </a:r>
          </a:p>
        </p:txBody>
      </p:sp>
      <p:pic>
        <p:nvPicPr>
          <p:cNvPr id="10" name="Image 1" descr="/mnt/data/hse_template_media/image5.png">
            <a:extLst>
              <a:ext uri="{FF2B5EF4-FFF2-40B4-BE49-F238E27FC236}">
                <a16:creationId xmlns:a16="http://schemas.microsoft.com/office/drawing/2014/main" id="{BBF7E797-F2B6-54B9-4A15-9AD65FB21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44018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Данные и разметка: три сценария сезонных аномалий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Разметка NAB задаёт аномальные окна; метрики в работе считаются point-wise по наблюдениям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000" y="4210000"/>
          <a:ext cx="10700000" cy="10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5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Ряд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Наблюдений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Доля аномалий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Период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Тип разметки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Такси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10 320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17,35%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интервальные пики спроса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Температура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7 267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33,85%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длинные отклонения от сезонного режима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18 050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4,50%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короткие сбои и смена дисперсии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0000" y="5419999"/>
            <a:ext cx="9900000" cy="708657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 dirty="0">
                <a:solidFill>
                  <a:srgbClr val="153B6B"/>
                </a:solidFill>
                <a:latin typeface="Arial"/>
              </a:rPr>
              <a:t>Как </a:t>
            </a:r>
            <a:r>
              <a:rPr sz="1000" b="1" dirty="0" err="1">
                <a:solidFill>
                  <a:srgbClr val="153B6B"/>
                </a:solidFill>
                <a:latin typeface="Arial"/>
              </a:rPr>
              <a:t>считается</a:t>
            </a:r>
            <a:r>
              <a:rPr sz="1000" b="1" dirty="0">
                <a:solidFill>
                  <a:srgbClr val="153B6B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53B6B"/>
                </a:solidFill>
                <a:latin typeface="Arial"/>
              </a:rPr>
              <a:t>качество</a:t>
            </a:r>
            <a:endParaRPr sz="1000" b="1" dirty="0">
              <a:solidFill>
                <a:srgbClr val="153B6B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ru-RU" sz="1000" dirty="0">
                <a:solidFill>
                  <a:srgbClr val="23374E"/>
                </a:solidFill>
              </a:rPr>
              <a:t>В работе используется </a:t>
            </a:r>
            <a:r>
              <a:rPr lang="en" sz="1000" dirty="0">
                <a:solidFill>
                  <a:srgbClr val="23374E"/>
                </a:solidFill>
              </a:rPr>
              <a:t>point-wise </a:t>
            </a:r>
            <a:r>
              <a:rPr lang="ru-RU" sz="1000" dirty="0">
                <a:solidFill>
                  <a:srgbClr val="23374E"/>
                </a:solidFill>
              </a:rPr>
              <a:t>оценка после преобразования интервальной разметки в бинарные метки по наблюдениям. </a:t>
            </a:r>
            <a:r>
              <a:rPr lang="en" sz="1000" dirty="0">
                <a:solidFill>
                  <a:srgbClr val="23374E"/>
                </a:solidFill>
              </a:rPr>
              <a:t>Event-based </a:t>
            </a:r>
            <a:r>
              <a:rPr lang="ru-RU" sz="1000" dirty="0">
                <a:solidFill>
                  <a:srgbClr val="23374E"/>
                </a:solidFill>
              </a:rPr>
              <a:t>и </a:t>
            </a:r>
            <a:r>
              <a:rPr lang="en" sz="1000" dirty="0">
                <a:solidFill>
                  <a:srgbClr val="23374E"/>
                </a:solidFill>
              </a:rPr>
              <a:t>NAB scoring </a:t>
            </a:r>
            <a:r>
              <a:rPr lang="ru-RU" sz="1000" dirty="0">
                <a:solidFill>
                  <a:srgbClr val="23374E"/>
                </a:solidFill>
              </a:rPr>
              <a:t>в рамках эксперимента не рассматриваются. Ограничением выбранной схемы оценки является то, что интервальная разметка </a:t>
            </a:r>
            <a:r>
              <a:rPr lang="en" sz="1000" dirty="0">
                <a:solidFill>
                  <a:srgbClr val="23374E"/>
                </a:solidFill>
              </a:rPr>
              <a:t>NAB </a:t>
            </a:r>
            <a:r>
              <a:rPr lang="ru-RU" sz="1000" dirty="0">
                <a:solidFill>
                  <a:srgbClr val="23374E"/>
                </a:solidFill>
              </a:rPr>
              <a:t>сводится к </a:t>
            </a:r>
            <a:r>
              <a:rPr lang="en" sz="1000" dirty="0">
                <a:solidFill>
                  <a:srgbClr val="23374E"/>
                </a:solidFill>
              </a:rPr>
              <a:t>point-wise </a:t>
            </a:r>
            <a:r>
              <a:rPr lang="ru-RU" sz="1000" dirty="0">
                <a:solidFill>
                  <a:srgbClr val="23374E"/>
                </a:solidFill>
              </a:rPr>
              <a:t>меткам. Поэтому длинные интервалы получают больший вес, чем короткие.</a:t>
            </a:r>
            <a:endParaRPr sz="1000" b="0" dirty="0">
              <a:solidFill>
                <a:srgbClr val="23374E"/>
              </a:solidFill>
              <a:latin typeface="Arial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474470"/>
            <a:ext cx="3584448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474470"/>
            <a:ext cx="3584448" cy="201625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1474470"/>
            <a:ext cx="3584448" cy="2016252"/>
          </a:xfrm>
          <a:prstGeom prst="rect">
            <a:avLst/>
          </a:prstGeom>
        </p:spPr>
      </p:pic>
      <p:pic>
        <p:nvPicPr>
          <p:cNvPr id="13" name="Image 1" descr="/mnt/data/hse_template_media/image5.png">
            <a:extLst>
              <a:ext uri="{FF2B5EF4-FFF2-40B4-BE49-F238E27FC236}">
                <a16:creationId xmlns:a16="http://schemas.microsoft.com/office/drawing/2014/main" id="{8DF820CC-2B66-9238-A0F9-B4951CA7F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92" y="128016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EDA: автокорреляция подтверждает сезонность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ACF использовалась для выбора сезонного периода в STL и прогнозных моделях</a:t>
            </a:r>
            <a:endParaRPr lang="en-US" sz="1500" dirty="0"/>
          </a:p>
        </p:txBody>
      </p:sp>
      <p:pic>
        <p:nvPicPr>
          <p:cNvPr id="118" name="Picture 117" descr="slide6_taxi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545000"/>
            <a:ext cx="3620000" cy="2350000"/>
          </a:xfrm>
          <a:prstGeom prst="rect">
            <a:avLst/>
          </a:prstGeom>
        </p:spPr>
      </p:pic>
      <p:pic>
        <p:nvPicPr>
          <p:cNvPr id="119" name="Picture 118" descr="slide6_ambient_a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500" y="1545000"/>
            <a:ext cx="3620000" cy="2350000"/>
          </a:xfrm>
          <a:prstGeom prst="rect">
            <a:avLst/>
          </a:prstGeom>
        </p:spPr>
      </p:pic>
      <p:pic>
        <p:nvPicPr>
          <p:cNvPr id="120" name="Picture 119" descr="slide6_cpu_a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344" y="1545000"/>
            <a:ext cx="3620000" cy="235000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833072" y="3972528"/>
            <a:ext cx="6147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200" b="1" dirty="0">
                <a:solidFill>
                  <a:srgbClr val="23374E"/>
                </a:solidFill>
                <a:latin typeface="Arial"/>
              </a:rPr>
              <a:t>Такси</a:t>
            </a:r>
            <a:endParaRPr sz="1200" b="1" dirty="0">
              <a:solidFill>
                <a:srgbClr val="23374E"/>
              </a:solidFill>
              <a:latin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660500" y="3914528"/>
            <a:ext cx="284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374E"/>
                </a:solidFill>
                <a:latin typeface="Arial"/>
              </a:rPr>
              <a:t>Температура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96250" y="3972528"/>
            <a:ext cx="190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23374E"/>
                </a:solidFill>
                <a:latin typeface="Arial"/>
              </a:rPr>
              <a:t>CPU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20000" y="4320000"/>
            <a:ext cx="10750000" cy="1297029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838947" y="4365144"/>
            <a:ext cx="1825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dirty="0" err="1">
                <a:solidFill>
                  <a:srgbClr val="153B6B"/>
                </a:solidFill>
                <a:latin typeface="Arial"/>
              </a:rPr>
              <a:t>Расчёт</a:t>
            </a:r>
            <a:r>
              <a:rPr sz="1600" b="1" dirty="0">
                <a:solidFill>
                  <a:srgbClr val="153B6B"/>
                </a:solidFill>
                <a:latin typeface="Arial"/>
              </a:rPr>
              <a:t> ACF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332942" y="5139045"/>
            <a:ext cx="8800000" cy="5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>
                <a:solidFill>
                  <a:srgbClr val="152B45"/>
                </a:solidFill>
                <a:latin typeface="Cambria Math"/>
              </a:defRPr>
            </a:pPr>
            <a:endParaRPr/>
          </a:p>
          <a:p>
            <a:pPr algn="ctr">
              <a:defRPr sz="1050">
                <a:solidFill>
                  <a:srgbClr val="152B45"/>
                </a:solidFill>
                <a:latin typeface="Cambria Math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293B8B-A63B-5725-F55F-825D1EA2601C}"/>
                  </a:ext>
                </a:extLst>
              </p:cNvPr>
              <p:cNvSpPr txBox="1"/>
              <p:nvPr/>
            </p:nvSpPr>
            <p:spPr>
              <a:xfrm>
                <a:off x="2552933" y="4687000"/>
                <a:ext cx="6397286" cy="836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limUpp>
                                    <m:limUpp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Upp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lim>
                                      <m:r>
                                        <a:rPr lang="ru-RU" sz="1400" i="0">
                                          <a:latin typeface="Cambria Math" panose="02040503050406030204" pitchFamily="18" charset="0"/>
                                        </a:rPr>
                                        <m:t>‾</m:t>
                                      </m:r>
                                    </m:lim>
                                  </m:limUpp>
                                </m:e>
                              </m:d>
                            </m:e>
                          </m:nary>
                          <m:d>
                            <m:dPr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Upp>
                                <m:limUpp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lim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‾</m:t>
                                  </m:r>
                                </m:lim>
                              </m:limUp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limUpp>
                                        <m:limUpp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Upp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lim>
                                          <m:r>
                                            <a:rPr lang="ru-RU" sz="1400" i="0">
                                              <a:latin typeface="Cambria Math" panose="02040503050406030204" pitchFamily="18" charset="0"/>
                                            </a:rPr>
                                            <m:t>‾</m:t>
                                          </m:r>
                                        </m:lim>
                                      </m:limUpp>
                                    </m:e>
                                  </m:d>
                                </m:e>
                                <m:sup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ru-RU" sz="1400" i="0">
                          <a:latin typeface="Cambria Math" panose="02040503050406030204" pitchFamily="18" charset="0"/>
                        </a:rPr>
                        <m:t>  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293B8B-A63B-5725-F55F-825D1EA26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933" y="4687000"/>
                <a:ext cx="6397286" cy="836832"/>
              </a:xfrm>
              <a:prstGeom prst="rect">
                <a:avLst/>
              </a:prstGeom>
              <a:blipFill>
                <a:blip r:embed="rId7"/>
                <a:stretch>
                  <a:fillRect t="-31818" b="-56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1" descr="/mnt/data/hse_template_media/image5.png">
            <a:extLst>
              <a:ext uri="{FF2B5EF4-FFF2-40B4-BE49-F238E27FC236}">
                <a16:creationId xmlns:a16="http://schemas.microsoft.com/office/drawing/2014/main" id="{D04C3740-070A-4EE2-CE10-01769FFAF3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EDA: STL показывает разную природу аномалий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разных рядах аномалии видны в остатке, тренде или дисперсии</a:t>
            </a:r>
            <a:endParaRPr lang="en-US" sz="1500" dirty="0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90000"/>
            <a:ext cx="3660000" cy="27100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128" y="1490000"/>
            <a:ext cx="3660000" cy="27100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888" y="1490000"/>
            <a:ext cx="3660000" cy="2710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90000" y="4310000"/>
            <a:ext cx="3500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dirty="0">
                <a:solidFill>
                  <a:srgbClr val="23374E"/>
                </a:solidFill>
                <a:latin typeface="Arial"/>
              </a:rPr>
              <a:t>Taxi: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интервальные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пики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спроса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;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аномалии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проявляются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как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резкие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остаточные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всплески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80000" y="4310000"/>
            <a:ext cx="3500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dirty="0" err="1">
                <a:solidFill>
                  <a:srgbClr val="23374E"/>
                </a:solidFill>
                <a:latin typeface="Arial"/>
              </a:rPr>
              <a:t>Температура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: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длительный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уход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от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сезонного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режима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;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заметны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тренд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остаток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70000" y="4310000"/>
            <a:ext cx="3500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dirty="0">
                <a:solidFill>
                  <a:srgbClr val="23374E"/>
                </a:solidFill>
                <a:latin typeface="Arial"/>
              </a:rPr>
              <a:t>CPU: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короткие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сбои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смена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дисперсии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;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важна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динамика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23374E"/>
                </a:solidFill>
                <a:latin typeface="Arial"/>
              </a:rPr>
              <a:t>остатка</a:t>
            </a:r>
            <a:r>
              <a:rPr sz="1050" b="0" dirty="0">
                <a:solidFill>
                  <a:srgbClr val="23374E"/>
                </a:solidFill>
                <a:latin typeface="Arial"/>
              </a:rPr>
              <a:t>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0000" y="5350000"/>
            <a:ext cx="10100000" cy="85649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600" b="1" dirty="0" err="1">
                <a:solidFill>
                  <a:srgbClr val="153B6B"/>
                </a:solidFill>
                <a:latin typeface="Arial"/>
              </a:rPr>
              <a:t>Вывод</a:t>
            </a:r>
            <a:endParaRPr sz="1600" b="1" dirty="0">
              <a:solidFill>
                <a:srgbClr val="153B6B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200" b="0" dirty="0">
                <a:solidFill>
                  <a:srgbClr val="23374E"/>
                </a:solidFill>
                <a:latin typeface="Arial"/>
              </a:rPr>
              <a:t>Разные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ряды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дают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разные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типы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отклонений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поэтому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в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эксперименте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отдельно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сравниваются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score method </a:t>
            </a:r>
            <a:r>
              <a:rPr sz="1200" b="0" dirty="0" err="1">
                <a:solidFill>
                  <a:srgbClr val="23374E"/>
                </a:solidFill>
                <a:latin typeface="Arial"/>
              </a:rPr>
              <a:t>и</a:t>
            </a:r>
            <a:r>
              <a:rPr sz="1200" b="0" dirty="0">
                <a:solidFill>
                  <a:srgbClr val="23374E"/>
                </a:solidFill>
                <a:latin typeface="Arial"/>
              </a:rPr>
              <a:t> threshold calibration.</a:t>
            </a:r>
          </a:p>
        </p:txBody>
      </p:sp>
      <p:pic>
        <p:nvPicPr>
          <p:cNvPr id="3" name="Image 1" descr="/mnt/data/hse_template_media/image5.png">
            <a:extLst>
              <a:ext uri="{FF2B5EF4-FFF2-40B4-BE49-F238E27FC236}">
                <a16:creationId xmlns:a16="http://schemas.microsoft.com/office/drawing/2014/main" id="{98B0B717-71EF-F0CA-BC71-092DC04632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Метрики и разбиение: F0.5 выбран из-за цены ложных тревог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Сценарий работы — мониторинг, где избыток алертов перегружает оператора и снижает доверие к системе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0" y="1420000"/>
            <a:ext cx="305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Почему F0.5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Fβ = (1 + β²) · P · R / (β² · P + R)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β = 0,5 усиливает precision, но recall показывается отдельно.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50000" y="1420000"/>
            <a:ext cx="305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Train FP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Train содержит нормальный участок.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Любое срабатывание на train — ложная тревога без утечки из test.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00000" y="3060000"/>
          <a:ext cx="67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Элемент протокола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train до первой аномалии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калибровать score и threshold без будущих данных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test с первого аномального окна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проверить обнаружение и возврат к норме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point-wise scoring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сравнить правила порога на одной шкале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контроль recall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3374E"/>
                          </a:solidFill>
                          <a:latin typeface="Arial"/>
                        </a:rPr>
                        <a:t>не допустить выигрыша только за счёт подавления алертов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50000" y="4980000"/>
            <a:ext cx="665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Важно: работа ориентирована на снижение шумных алертов; поэтому precision приоритетен, но recall и попадание в размеченные интервалы не скрываются.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15000"/>
            <a:ext cx="3700000" cy="2250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950000"/>
            <a:ext cx="3700000" cy="14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08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Baseline-подходы: простые правила задают контрольную точку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Сравнивались static quantile, z-score и STL + z-score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868680" y="4498848"/>
            <a:ext cx="3154680" cy="749808"/>
          </a:xfrm>
          <a:prstGeom prst="roundRect">
            <a:avLst>
              <a:gd name="adj" fmla="val 9756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0057B8"/>
            </a:solidFill>
            <a:prstDash val="solid"/>
          </a:ln>
        </p:spPr>
        <p:txBody>
          <a:bodyPr/>
          <a:lstStyle/>
          <a:p>
            <a:pPr algn="ctr"/>
            <a:endParaRPr dirty="0"/>
          </a:p>
        </p:txBody>
      </p:sp>
      <p:sp>
        <p:nvSpPr>
          <p:cNvPr id="16" name="Text 9"/>
          <p:cNvSpPr/>
          <p:nvPr/>
        </p:nvSpPr>
        <p:spPr>
          <a:xfrm>
            <a:off x="1028700" y="493116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L=Q0.2(train), U=Q0.8(train)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4526280" y="4498848"/>
            <a:ext cx="3154680" cy="749808"/>
          </a:xfrm>
          <a:prstGeom prst="roundRect">
            <a:avLst>
              <a:gd name="adj" fmla="val 9756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0057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1"/>
          <p:cNvSpPr/>
          <p:nvPr/>
        </p:nvSpPr>
        <p:spPr>
          <a:xfrm>
            <a:off x="4654296" y="460857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654296" y="492861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аномалия при |z| ≥ 2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183880" y="4498848"/>
            <a:ext cx="3154680" cy="749808"/>
          </a:xfrm>
          <a:prstGeom prst="roundRect">
            <a:avLst>
              <a:gd name="adj" fmla="val 9756"/>
            </a:avLst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0057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4"/>
          <p:cNvSpPr/>
          <p:nvPr/>
        </p:nvSpPr>
        <p:spPr>
          <a:xfrm>
            <a:off x="8311896" y="460857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+ z-score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11896" y="492861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считается по остаткам STL</a:t>
            </a:r>
            <a:endParaRPr lang="en-US" sz="115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EF6D7A7C-E4ED-EDD5-D6D0-7C389B8DC4D0}"/>
              </a:ext>
            </a:extLst>
          </p:cNvPr>
          <p:cNvSpPr/>
          <p:nvPr/>
        </p:nvSpPr>
        <p:spPr>
          <a:xfrm>
            <a:off x="1028700" y="4597117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quantile</a:t>
            </a:r>
            <a:endParaRPr lang="en-US" sz="1500" dirty="0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0" y="1316736"/>
            <a:ext cx="3600000" cy="26200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326" y="1298448"/>
            <a:ext cx="3600000" cy="26200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760" y="1316736"/>
            <a:ext cx="3574871" cy="2601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09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baseline: F0.5 нестабилен, Train FP у static ≈ 40%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Статический квантиль — лучший baseline по F0.5, но слишком шумный на нормальном train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13232" y="1298448"/>
            <a:ext cx="868680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80" dirty="0"/>
          </a:p>
        </p:txBody>
      </p:sp>
      <p:sp>
        <p:nvSpPr>
          <p:cNvPr id="9" name="Text 5"/>
          <p:cNvSpPr/>
          <p:nvPr/>
        </p:nvSpPr>
        <p:spPr>
          <a:xfrm>
            <a:off x="1581912" y="1298448"/>
            <a:ext cx="1508760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80" dirty="0"/>
          </a:p>
        </p:txBody>
      </p:sp>
      <p:sp>
        <p:nvSpPr>
          <p:cNvPr id="10" name="Text 6"/>
          <p:cNvSpPr/>
          <p:nvPr/>
        </p:nvSpPr>
        <p:spPr>
          <a:xfrm>
            <a:off x="3090672" y="1298448"/>
            <a:ext cx="932688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FP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4023360" y="1298448"/>
            <a:ext cx="932688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4956048" y="1298448"/>
            <a:ext cx="932688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5888736" y="1298448"/>
            <a:ext cx="1115568" cy="434340"/>
          </a:xfrm>
          <a:prstGeom prst="rect">
            <a:avLst/>
          </a:prstGeom>
          <a:solidFill>
            <a:srgbClr val="003366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F0.5</a:t>
            </a:r>
            <a:endParaRPr lang="en-US" sz="980" dirty="0"/>
          </a:p>
        </p:txBody>
      </p:sp>
      <p:sp>
        <p:nvSpPr>
          <p:cNvPr id="14" name="Text 10"/>
          <p:cNvSpPr/>
          <p:nvPr/>
        </p:nvSpPr>
        <p:spPr>
          <a:xfrm>
            <a:off x="713232" y="1732788"/>
            <a:ext cx="86868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1581912" y="1732788"/>
            <a:ext cx="150876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quantile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3090672" y="173278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0,400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4023360" y="173278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0,414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4956048" y="173278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0,409</a:t>
            </a:r>
            <a:endParaRPr lang="en-US" sz="980" dirty="0"/>
          </a:p>
        </p:txBody>
      </p:sp>
      <p:sp>
        <p:nvSpPr>
          <p:cNvPr id="19" name="Text 15"/>
          <p:cNvSpPr/>
          <p:nvPr/>
        </p:nvSpPr>
        <p:spPr>
          <a:xfrm>
            <a:off x="5888736" y="1732788"/>
            <a:ext cx="111556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0,413</a:t>
            </a:r>
            <a:endParaRPr lang="en-US" sz="980" dirty="0"/>
          </a:p>
        </p:txBody>
      </p:sp>
      <p:sp>
        <p:nvSpPr>
          <p:cNvPr id="20" name="Text 16"/>
          <p:cNvSpPr/>
          <p:nvPr/>
        </p:nvSpPr>
        <p:spPr>
          <a:xfrm>
            <a:off x="713232" y="2167128"/>
            <a:ext cx="86868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endParaRPr lang="en-US" sz="980" dirty="0"/>
          </a:p>
        </p:txBody>
      </p:sp>
      <p:sp>
        <p:nvSpPr>
          <p:cNvPr id="21" name="Text 17"/>
          <p:cNvSpPr/>
          <p:nvPr/>
        </p:nvSpPr>
        <p:spPr>
          <a:xfrm>
            <a:off x="1581912" y="2167128"/>
            <a:ext cx="150876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980" dirty="0"/>
          </a:p>
        </p:txBody>
      </p:sp>
      <p:sp>
        <p:nvSpPr>
          <p:cNvPr id="22" name="Text 18"/>
          <p:cNvSpPr/>
          <p:nvPr/>
        </p:nvSpPr>
        <p:spPr>
          <a:xfrm>
            <a:off x="3090672" y="216712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0,001</a:t>
            </a:r>
            <a:endParaRPr lang="en-US" sz="980" dirty="0"/>
          </a:p>
        </p:txBody>
      </p:sp>
      <p:sp>
        <p:nvSpPr>
          <p:cNvPr id="23" name="Text 19"/>
          <p:cNvSpPr/>
          <p:nvPr/>
        </p:nvSpPr>
        <p:spPr>
          <a:xfrm>
            <a:off x="4023360" y="216712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0,018</a:t>
            </a:r>
            <a:endParaRPr lang="en-US" sz="980" dirty="0"/>
          </a:p>
        </p:txBody>
      </p:sp>
      <p:sp>
        <p:nvSpPr>
          <p:cNvPr id="24" name="Text 20"/>
          <p:cNvSpPr/>
          <p:nvPr/>
        </p:nvSpPr>
        <p:spPr>
          <a:xfrm>
            <a:off x="4956048" y="216712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0,681</a:t>
            </a:r>
            <a:endParaRPr lang="en-US" sz="980" dirty="0"/>
          </a:p>
        </p:txBody>
      </p:sp>
      <p:sp>
        <p:nvSpPr>
          <p:cNvPr id="25" name="Text 21"/>
          <p:cNvSpPr/>
          <p:nvPr/>
        </p:nvSpPr>
        <p:spPr>
          <a:xfrm>
            <a:off x="5888736" y="2167128"/>
            <a:ext cx="111556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0,022</a:t>
            </a:r>
            <a:endParaRPr lang="en-US" sz="980" dirty="0"/>
          </a:p>
        </p:txBody>
      </p:sp>
      <p:sp>
        <p:nvSpPr>
          <p:cNvPr id="26" name="Text 22"/>
          <p:cNvSpPr/>
          <p:nvPr/>
        </p:nvSpPr>
        <p:spPr>
          <a:xfrm>
            <a:off x="713232" y="2601468"/>
            <a:ext cx="86868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endParaRPr lang="en-US" sz="980" dirty="0"/>
          </a:p>
        </p:txBody>
      </p:sp>
      <p:sp>
        <p:nvSpPr>
          <p:cNvPr id="27" name="Text 23"/>
          <p:cNvSpPr/>
          <p:nvPr/>
        </p:nvSpPr>
        <p:spPr>
          <a:xfrm>
            <a:off x="1581912" y="2601468"/>
            <a:ext cx="150876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+ z</a:t>
            </a:r>
            <a:endParaRPr lang="en-US" sz="980" dirty="0"/>
          </a:p>
        </p:txBody>
      </p:sp>
      <p:sp>
        <p:nvSpPr>
          <p:cNvPr id="28" name="Text 24"/>
          <p:cNvSpPr/>
          <p:nvPr/>
        </p:nvSpPr>
        <p:spPr>
          <a:xfrm>
            <a:off x="3090672" y="260146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0,083</a:t>
            </a:r>
            <a:endParaRPr lang="en-US" sz="980" dirty="0"/>
          </a:p>
        </p:txBody>
      </p:sp>
      <p:sp>
        <p:nvSpPr>
          <p:cNvPr id="29" name="Text 25"/>
          <p:cNvSpPr/>
          <p:nvPr/>
        </p:nvSpPr>
        <p:spPr>
          <a:xfrm>
            <a:off x="4023360" y="260146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0,094</a:t>
            </a:r>
            <a:endParaRPr lang="en-US" sz="980" dirty="0"/>
          </a:p>
        </p:txBody>
      </p:sp>
      <p:sp>
        <p:nvSpPr>
          <p:cNvPr id="30" name="Text 26"/>
          <p:cNvSpPr/>
          <p:nvPr/>
        </p:nvSpPr>
        <p:spPr>
          <a:xfrm>
            <a:off x="4956048" y="260146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0,419</a:t>
            </a:r>
            <a:endParaRPr lang="en-US" sz="980" dirty="0"/>
          </a:p>
        </p:txBody>
      </p:sp>
      <p:sp>
        <p:nvSpPr>
          <p:cNvPr id="31" name="Text 27"/>
          <p:cNvSpPr/>
          <p:nvPr/>
        </p:nvSpPr>
        <p:spPr>
          <a:xfrm>
            <a:off x="5888736" y="2601468"/>
            <a:ext cx="111556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0,112</a:t>
            </a:r>
            <a:endParaRPr lang="en-US" sz="980" dirty="0"/>
          </a:p>
        </p:txBody>
      </p:sp>
      <p:sp>
        <p:nvSpPr>
          <p:cNvPr id="32" name="Text 28"/>
          <p:cNvSpPr/>
          <p:nvPr/>
        </p:nvSpPr>
        <p:spPr>
          <a:xfrm>
            <a:off x="713232" y="3035808"/>
            <a:ext cx="86868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980" dirty="0"/>
          </a:p>
        </p:txBody>
      </p:sp>
      <p:sp>
        <p:nvSpPr>
          <p:cNvPr id="33" name="Text 29"/>
          <p:cNvSpPr/>
          <p:nvPr/>
        </p:nvSpPr>
        <p:spPr>
          <a:xfrm>
            <a:off x="1581912" y="3035808"/>
            <a:ext cx="150876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quantile</a:t>
            </a:r>
            <a:endParaRPr lang="en-US" sz="980" dirty="0"/>
          </a:p>
        </p:txBody>
      </p:sp>
      <p:sp>
        <p:nvSpPr>
          <p:cNvPr id="34" name="Text 30"/>
          <p:cNvSpPr/>
          <p:nvPr/>
        </p:nvSpPr>
        <p:spPr>
          <a:xfrm>
            <a:off x="3090672" y="303580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0,400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4023360" y="303580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0,431</a:t>
            </a:r>
            <a:endParaRPr lang="en-US" sz="980" dirty="0"/>
          </a:p>
        </p:txBody>
      </p:sp>
      <p:sp>
        <p:nvSpPr>
          <p:cNvPr id="36" name="Text 32"/>
          <p:cNvSpPr/>
          <p:nvPr/>
        </p:nvSpPr>
        <p:spPr>
          <a:xfrm>
            <a:off x="4956048" y="303580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0,555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5888736" y="3035808"/>
            <a:ext cx="111556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0,451</a:t>
            </a:r>
            <a:endParaRPr lang="en-US" sz="980" dirty="0"/>
          </a:p>
        </p:txBody>
      </p:sp>
      <p:sp>
        <p:nvSpPr>
          <p:cNvPr id="38" name="Text 34"/>
          <p:cNvSpPr/>
          <p:nvPr/>
        </p:nvSpPr>
        <p:spPr>
          <a:xfrm>
            <a:off x="713232" y="3470148"/>
            <a:ext cx="86868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980" dirty="0"/>
          </a:p>
        </p:txBody>
      </p:sp>
      <p:sp>
        <p:nvSpPr>
          <p:cNvPr id="39" name="Text 35"/>
          <p:cNvSpPr/>
          <p:nvPr/>
        </p:nvSpPr>
        <p:spPr>
          <a:xfrm>
            <a:off x="1581912" y="3470148"/>
            <a:ext cx="150876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980" dirty="0"/>
          </a:p>
        </p:txBody>
      </p:sp>
      <p:sp>
        <p:nvSpPr>
          <p:cNvPr id="40" name="Text 36"/>
          <p:cNvSpPr/>
          <p:nvPr/>
        </p:nvSpPr>
        <p:spPr>
          <a:xfrm>
            <a:off x="3090672" y="347014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0,044</a:t>
            </a:r>
            <a:endParaRPr lang="en-US" sz="980" dirty="0"/>
          </a:p>
        </p:txBody>
      </p:sp>
      <p:sp>
        <p:nvSpPr>
          <p:cNvPr id="41" name="Text 37"/>
          <p:cNvSpPr/>
          <p:nvPr/>
        </p:nvSpPr>
        <p:spPr>
          <a:xfrm>
            <a:off x="4023360" y="347014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0,115</a:t>
            </a:r>
            <a:endParaRPr lang="en-US" sz="980" dirty="0"/>
          </a:p>
        </p:txBody>
      </p:sp>
      <p:sp>
        <p:nvSpPr>
          <p:cNvPr id="42" name="Text 38"/>
          <p:cNvSpPr/>
          <p:nvPr/>
        </p:nvSpPr>
        <p:spPr>
          <a:xfrm>
            <a:off x="4956048" y="347014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0,373</a:t>
            </a:r>
            <a:endParaRPr lang="en-US" sz="980" dirty="0"/>
          </a:p>
        </p:txBody>
      </p:sp>
      <p:sp>
        <p:nvSpPr>
          <p:cNvPr id="43" name="Text 39"/>
          <p:cNvSpPr/>
          <p:nvPr/>
        </p:nvSpPr>
        <p:spPr>
          <a:xfrm>
            <a:off x="5888736" y="3470148"/>
            <a:ext cx="111556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0,133</a:t>
            </a:r>
            <a:endParaRPr lang="en-US" sz="980" dirty="0"/>
          </a:p>
        </p:txBody>
      </p:sp>
      <p:sp>
        <p:nvSpPr>
          <p:cNvPr id="44" name="Text 40"/>
          <p:cNvSpPr/>
          <p:nvPr/>
        </p:nvSpPr>
        <p:spPr>
          <a:xfrm>
            <a:off x="713232" y="3904488"/>
            <a:ext cx="86868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980" dirty="0"/>
          </a:p>
        </p:txBody>
      </p:sp>
      <p:sp>
        <p:nvSpPr>
          <p:cNvPr id="45" name="Text 41"/>
          <p:cNvSpPr/>
          <p:nvPr/>
        </p:nvSpPr>
        <p:spPr>
          <a:xfrm>
            <a:off x="1581912" y="3904488"/>
            <a:ext cx="150876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+ z</a:t>
            </a:r>
            <a:endParaRPr lang="en-US" sz="980" dirty="0"/>
          </a:p>
        </p:txBody>
      </p:sp>
      <p:sp>
        <p:nvSpPr>
          <p:cNvPr id="46" name="Text 42"/>
          <p:cNvSpPr/>
          <p:nvPr/>
        </p:nvSpPr>
        <p:spPr>
          <a:xfrm>
            <a:off x="3090672" y="390448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0,051</a:t>
            </a:r>
            <a:endParaRPr lang="en-US" sz="980" dirty="0"/>
          </a:p>
        </p:txBody>
      </p:sp>
      <p:sp>
        <p:nvSpPr>
          <p:cNvPr id="47" name="Text 43"/>
          <p:cNvSpPr/>
          <p:nvPr/>
        </p:nvSpPr>
        <p:spPr>
          <a:xfrm>
            <a:off x="4023360" y="390448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0,061</a:t>
            </a:r>
            <a:endParaRPr lang="en-US" sz="980" dirty="0"/>
          </a:p>
        </p:txBody>
      </p:sp>
      <p:sp>
        <p:nvSpPr>
          <p:cNvPr id="48" name="Text 44"/>
          <p:cNvSpPr/>
          <p:nvPr/>
        </p:nvSpPr>
        <p:spPr>
          <a:xfrm>
            <a:off x="4956048" y="390448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0,454</a:t>
            </a:r>
            <a:endParaRPr lang="en-US" sz="980" dirty="0"/>
          </a:p>
        </p:txBody>
      </p:sp>
      <p:sp>
        <p:nvSpPr>
          <p:cNvPr id="49" name="Text 45"/>
          <p:cNvSpPr/>
          <p:nvPr/>
        </p:nvSpPr>
        <p:spPr>
          <a:xfrm>
            <a:off x="5888736" y="3904488"/>
            <a:ext cx="111556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0,073</a:t>
            </a:r>
            <a:endParaRPr lang="en-US" sz="980" dirty="0"/>
          </a:p>
        </p:txBody>
      </p:sp>
      <p:sp>
        <p:nvSpPr>
          <p:cNvPr id="50" name="Text 46"/>
          <p:cNvSpPr/>
          <p:nvPr/>
        </p:nvSpPr>
        <p:spPr>
          <a:xfrm>
            <a:off x="713232" y="4338828"/>
            <a:ext cx="86868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980" dirty="0"/>
          </a:p>
        </p:txBody>
      </p:sp>
      <p:sp>
        <p:nvSpPr>
          <p:cNvPr id="51" name="Text 47"/>
          <p:cNvSpPr/>
          <p:nvPr/>
        </p:nvSpPr>
        <p:spPr>
          <a:xfrm>
            <a:off x="1581912" y="4338828"/>
            <a:ext cx="150876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quantile</a:t>
            </a:r>
            <a:endParaRPr lang="en-US" sz="980" dirty="0"/>
          </a:p>
        </p:txBody>
      </p:sp>
      <p:sp>
        <p:nvSpPr>
          <p:cNvPr id="52" name="Text 48"/>
          <p:cNvSpPr/>
          <p:nvPr/>
        </p:nvSpPr>
        <p:spPr>
          <a:xfrm>
            <a:off x="3090672" y="433882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0,400</a:t>
            </a:r>
            <a:endParaRPr lang="en-US" sz="980" dirty="0"/>
          </a:p>
        </p:txBody>
      </p:sp>
      <p:sp>
        <p:nvSpPr>
          <p:cNvPr id="53" name="Text 49"/>
          <p:cNvSpPr/>
          <p:nvPr/>
        </p:nvSpPr>
        <p:spPr>
          <a:xfrm>
            <a:off x="4023360" y="433882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0,862</a:t>
            </a:r>
            <a:endParaRPr lang="en-US" sz="980" dirty="0"/>
          </a:p>
        </p:txBody>
      </p:sp>
      <p:sp>
        <p:nvSpPr>
          <p:cNvPr id="54" name="Text 50"/>
          <p:cNvSpPr/>
          <p:nvPr/>
        </p:nvSpPr>
        <p:spPr>
          <a:xfrm>
            <a:off x="4956048" y="433882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0,749</a:t>
            </a:r>
            <a:endParaRPr lang="en-US" sz="980" dirty="0"/>
          </a:p>
        </p:txBody>
      </p:sp>
      <p:sp>
        <p:nvSpPr>
          <p:cNvPr id="55" name="Text 51"/>
          <p:cNvSpPr/>
          <p:nvPr/>
        </p:nvSpPr>
        <p:spPr>
          <a:xfrm>
            <a:off x="5888736" y="4338828"/>
            <a:ext cx="111556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0,837</a:t>
            </a:r>
            <a:endParaRPr lang="en-US" sz="980" dirty="0"/>
          </a:p>
        </p:txBody>
      </p:sp>
      <p:sp>
        <p:nvSpPr>
          <p:cNvPr id="56" name="Text 52"/>
          <p:cNvSpPr/>
          <p:nvPr/>
        </p:nvSpPr>
        <p:spPr>
          <a:xfrm>
            <a:off x="713232" y="4773168"/>
            <a:ext cx="86868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980" dirty="0"/>
          </a:p>
        </p:txBody>
      </p:sp>
      <p:sp>
        <p:nvSpPr>
          <p:cNvPr id="57" name="Text 53"/>
          <p:cNvSpPr/>
          <p:nvPr/>
        </p:nvSpPr>
        <p:spPr>
          <a:xfrm>
            <a:off x="1581912" y="4773168"/>
            <a:ext cx="1508760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980" dirty="0"/>
          </a:p>
        </p:txBody>
      </p:sp>
      <p:sp>
        <p:nvSpPr>
          <p:cNvPr id="58" name="Text 54"/>
          <p:cNvSpPr/>
          <p:nvPr/>
        </p:nvSpPr>
        <p:spPr>
          <a:xfrm>
            <a:off x="3090672" y="477316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0,064</a:t>
            </a:r>
            <a:endParaRPr lang="en-US" sz="980" dirty="0"/>
          </a:p>
        </p:txBody>
      </p:sp>
      <p:sp>
        <p:nvSpPr>
          <p:cNvPr id="59" name="Text 55"/>
          <p:cNvSpPr/>
          <p:nvPr/>
        </p:nvSpPr>
        <p:spPr>
          <a:xfrm>
            <a:off x="4023360" y="477316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0,169</a:t>
            </a:r>
            <a:endParaRPr lang="en-US" sz="980" dirty="0"/>
          </a:p>
        </p:txBody>
      </p:sp>
      <p:sp>
        <p:nvSpPr>
          <p:cNvPr id="60" name="Text 56"/>
          <p:cNvSpPr/>
          <p:nvPr/>
        </p:nvSpPr>
        <p:spPr>
          <a:xfrm>
            <a:off x="4956048" y="4773168"/>
            <a:ext cx="93268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980" dirty="0"/>
          </a:p>
        </p:txBody>
      </p:sp>
      <p:sp>
        <p:nvSpPr>
          <p:cNvPr id="61" name="Text 57"/>
          <p:cNvSpPr/>
          <p:nvPr/>
        </p:nvSpPr>
        <p:spPr>
          <a:xfrm>
            <a:off x="5888736" y="4773168"/>
            <a:ext cx="1115568" cy="434340"/>
          </a:xfrm>
          <a:prstGeom prst="rect">
            <a:avLst/>
          </a:prstGeom>
          <a:solidFill>
            <a:srgbClr val="F4FA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0,202</a:t>
            </a:r>
            <a:endParaRPr lang="en-US" sz="980" dirty="0"/>
          </a:p>
        </p:txBody>
      </p:sp>
      <p:sp>
        <p:nvSpPr>
          <p:cNvPr id="62" name="Text 58"/>
          <p:cNvSpPr/>
          <p:nvPr/>
        </p:nvSpPr>
        <p:spPr>
          <a:xfrm>
            <a:off x="713232" y="5207508"/>
            <a:ext cx="86868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980" dirty="0"/>
          </a:p>
        </p:txBody>
      </p:sp>
      <p:sp>
        <p:nvSpPr>
          <p:cNvPr id="63" name="Text 59"/>
          <p:cNvSpPr/>
          <p:nvPr/>
        </p:nvSpPr>
        <p:spPr>
          <a:xfrm>
            <a:off x="1581912" y="5207508"/>
            <a:ext cx="1508760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+ z</a:t>
            </a:r>
            <a:endParaRPr lang="en-US" sz="980" dirty="0"/>
          </a:p>
        </p:txBody>
      </p:sp>
      <p:sp>
        <p:nvSpPr>
          <p:cNvPr id="64" name="Text 60"/>
          <p:cNvSpPr/>
          <p:nvPr/>
        </p:nvSpPr>
        <p:spPr>
          <a:xfrm>
            <a:off x="3090672" y="520750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0,023</a:t>
            </a:r>
            <a:endParaRPr lang="en-US" sz="980" dirty="0"/>
          </a:p>
        </p:txBody>
      </p:sp>
      <p:sp>
        <p:nvSpPr>
          <p:cNvPr id="65" name="Text 61"/>
          <p:cNvSpPr/>
          <p:nvPr/>
        </p:nvSpPr>
        <p:spPr>
          <a:xfrm>
            <a:off x="4023360" y="520750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0,322</a:t>
            </a:r>
            <a:endParaRPr lang="en-US" sz="980" dirty="0"/>
          </a:p>
        </p:txBody>
      </p:sp>
      <p:sp>
        <p:nvSpPr>
          <p:cNvPr id="66" name="Text 62"/>
          <p:cNvSpPr/>
          <p:nvPr/>
        </p:nvSpPr>
        <p:spPr>
          <a:xfrm>
            <a:off x="4956048" y="5207508"/>
            <a:ext cx="93268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0,996</a:t>
            </a:r>
            <a:endParaRPr lang="en-US" sz="980" dirty="0"/>
          </a:p>
        </p:txBody>
      </p:sp>
      <p:sp>
        <p:nvSpPr>
          <p:cNvPr id="67" name="Text 63"/>
          <p:cNvSpPr/>
          <p:nvPr/>
        </p:nvSpPr>
        <p:spPr>
          <a:xfrm>
            <a:off x="5888736" y="5207508"/>
            <a:ext cx="1115568" cy="4343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8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0,373</a:t>
            </a:r>
            <a:endParaRPr lang="en-US" sz="980" dirty="0"/>
          </a:p>
        </p:txBody>
      </p:sp>
      <p:sp>
        <p:nvSpPr>
          <p:cNvPr id="72" name="Text 67"/>
          <p:cNvSpPr/>
          <p:nvPr/>
        </p:nvSpPr>
        <p:spPr>
          <a:xfrm>
            <a:off x="822960" y="5833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простая схема либо шумит на train, либо теряет precision на test.</a:t>
            </a:r>
            <a:endParaRPr lang="en-US" sz="1400" dirty="0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81328"/>
            <a:ext cx="3429000" cy="2926080"/>
          </a:xfrm>
          <a:prstGeom prst="rect">
            <a:avLst/>
          </a:prstGeom>
        </p:spPr>
      </p:pic>
      <p:pic>
        <p:nvPicPr>
          <p:cNvPr id="3" name="Picture 7" descr="image.png">
            <a:extLst>
              <a:ext uri="{FF2B5EF4-FFF2-40B4-BE49-F238E27FC236}">
                <a16:creationId xmlns:a16="http://schemas.microsoft.com/office/drawing/2014/main" id="{FAD92B2E-E472-0436-C3E3-8138C281D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484914"/>
            <a:ext cx="3813048" cy="2245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Анализ и экспериментальные данные: что именно сравнивалось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59536"/>
            <a:ext cx="92191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23374E"/>
                </a:solidFill>
              </a:rPr>
              <a:t>Общая схема отделяет численную меру отклонения от правила автоматической калибровки порога</a:t>
            </a:r>
          </a:p>
          <a:p>
            <a:r>
              <a:rPr sz="1400" b="0" dirty="0" err="1">
                <a:solidFill>
                  <a:srgbClr val="23374E"/>
                </a:solidFill>
                <a:latin typeface="Arial"/>
              </a:rPr>
              <a:t>Каждый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запуск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комбинация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score method, threshold rule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и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набора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параметров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без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утечки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будущих</a:t>
            </a:r>
            <a:r>
              <a:rPr sz="1400" b="0" dirty="0">
                <a:solidFill>
                  <a:srgbClr val="23374E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3374E"/>
                </a:solidFill>
                <a:latin typeface="Arial"/>
              </a:rPr>
              <a:t>данных</a:t>
            </a:r>
            <a:endParaRPr sz="1400" b="0" dirty="0">
              <a:solidFill>
                <a:srgbClr val="23374E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0000" y="1360000"/>
            <a:ext cx="51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3B6B"/>
                </a:solidFill>
                <a:latin typeface="Arial"/>
              </a:rPr>
              <a:t>Score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1360000"/>
            <a:ext cx="51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3B6B"/>
                </a:solidFill>
                <a:latin typeface="Arial"/>
              </a:rPr>
              <a:t>Threshold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1585000"/>
            <a:ext cx="5150000" cy="97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000" y="163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STL-score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181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xₜ = Tₜ + Sₜ + Rₜ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sₜ = |(Rₜ − μᵣ) / σᵣ|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" y="228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Robust STL, seasonal period = s; score строится по нормированному остатку.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2635000"/>
            <a:ext cx="5150000" cy="97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000" y="268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Holt-Winters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000" y="286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x̂ₜ = HWₛ(x_train)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sₜ = |(xₜ − x̂ₜ − μₑ) / σₑ|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000" y="333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Additive trend + additive seasonality; test прогнозируется после fit на train.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685000"/>
            <a:ext cx="5150000" cy="97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000" y="373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Adaptive Holt-Winters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000" y="391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x̂ₜ:ₜ₊ₛ₋₁ = HWₛ(Hₜ₋₁)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sₜ = |(xₜ − x̂ₜ − μₑ) / σₑ|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00" y="438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Модель переобучается раз в сезон; аномальные точки в history заменяются прогнозом.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4735000"/>
            <a:ext cx="5150000" cy="97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000" y="478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Adaptive CatBoost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000" y="496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x̂ₜ = CB_θₜ(φₜ),  φₜ = (lags, calendar, season)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sₜ = |(xₜ − x̂ₜ − μₑ) / σₑ|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000" y="543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Регрессор по лагам и календарным признакам переобучается на скользящей истории.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0000" y="1585000"/>
            <a:ext cx="5150000" cy="9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0000" y="163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Static 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0000" y="181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τₜ = k,  k ∈ {2.0, 2.5, 3.0}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aₜ = 1{sₜ ≥ k}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0000" y="228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Глобальный порог на нормированном score.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0000" y="2635000"/>
            <a:ext cx="5150000" cy="9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0000" y="268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Rolling quantile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0000" y="286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τₜ = Q_q(sₜ₋w, …, sₜ₋₁)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q ∈ {0.68, 0.95, 0.99}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0000" y="333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Порог считается только по прошлым score в скользящем окне.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0000" y="3685000"/>
            <a:ext cx="5150000" cy="9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0000" y="373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Context-aware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0000" y="3910000"/>
            <a:ext cx="4890000" cy="382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dirty="0" err="1">
                <a:solidFill>
                  <a:srgbClr val="152B45"/>
                </a:solidFill>
                <a:latin typeface="Cambria Math"/>
              </a:rPr>
              <a:t>τ</a:t>
            </a:r>
            <a:r>
              <a:rPr sz="1200" dirty="0">
                <a:solidFill>
                  <a:srgbClr val="152B45"/>
                </a:solidFill>
                <a:latin typeface="Cambria Math"/>
              </a:rPr>
              <a:t>ₜ = </a:t>
            </a:r>
            <a:r>
              <a:rPr sz="1200" dirty="0" err="1">
                <a:solidFill>
                  <a:srgbClr val="152B45"/>
                </a:solidFill>
                <a:latin typeface="Cambria Math"/>
              </a:rPr>
              <a:t>Q_q</a:t>
            </a:r>
            <a:r>
              <a:rPr sz="1200" dirty="0">
                <a:solidFill>
                  <a:srgbClr val="152B45"/>
                </a:solidFill>
                <a:latin typeface="Cambria Math"/>
              </a:rPr>
              <a:t>({sᵢ : cᵢ = cₜ})</a:t>
            </a:r>
          </a:p>
          <a:p>
            <a:pPr algn="ctr">
              <a:spcAft>
                <a:spcPts val="100"/>
              </a:spcAft>
            </a:pPr>
            <a:r>
              <a:rPr sz="1200" dirty="0">
                <a:solidFill>
                  <a:srgbClr val="152B45"/>
                </a:solidFill>
                <a:latin typeface="Cambria Math"/>
              </a:rPr>
              <a:t>cₜ ∈ {hour, </a:t>
            </a:r>
            <a:r>
              <a:rPr sz="1200" dirty="0" err="1">
                <a:solidFill>
                  <a:srgbClr val="152B45"/>
                </a:solidFill>
                <a:latin typeface="Cambria Math"/>
              </a:rPr>
              <a:t>d</a:t>
            </a:r>
            <a:r>
              <a:rPr lang="en-US" sz="1200" dirty="0" err="1">
                <a:solidFill>
                  <a:srgbClr val="152B45"/>
                </a:solidFill>
                <a:latin typeface="Cambria Math"/>
              </a:rPr>
              <a:t>ayofweek</a:t>
            </a:r>
            <a:r>
              <a:rPr sz="1200" dirty="0">
                <a:solidFill>
                  <a:srgbClr val="152B45"/>
                </a:solidFill>
                <a:latin typeface="Cambria Math"/>
              </a:rPr>
              <a:t>, </a:t>
            </a:r>
            <a:r>
              <a:rPr sz="1200" dirty="0" err="1">
                <a:solidFill>
                  <a:srgbClr val="152B45"/>
                </a:solidFill>
                <a:latin typeface="Cambria Math"/>
              </a:rPr>
              <a:t>d</a:t>
            </a:r>
            <a:r>
              <a:rPr lang="en-US" sz="1200" dirty="0" err="1">
                <a:solidFill>
                  <a:srgbClr val="152B45"/>
                </a:solidFill>
                <a:latin typeface="Cambria Math"/>
              </a:rPr>
              <a:t>ayofweek</a:t>
            </a:r>
            <a:r>
              <a:rPr sz="1200" dirty="0" err="1">
                <a:solidFill>
                  <a:srgbClr val="152B45"/>
                </a:solidFill>
                <a:latin typeface="Cambria Math"/>
              </a:rPr>
              <a:t>_hour</a:t>
            </a:r>
            <a:r>
              <a:rPr sz="1200" dirty="0">
                <a:solidFill>
                  <a:srgbClr val="152B45"/>
                </a:solidFill>
                <a:latin typeface="Cambria Math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0000" y="438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 dirty="0">
                <a:solidFill>
                  <a:srgbClr val="4B5A70"/>
                </a:solidFill>
                <a:latin typeface="Arial"/>
              </a:rPr>
              <a:t>Если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контекста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нет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в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 train,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используется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глобальный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4B5A70"/>
                </a:solidFill>
                <a:latin typeface="Arial"/>
              </a:rPr>
              <a:t>квантиль</a:t>
            </a:r>
            <a:r>
              <a:rPr sz="700" b="0" dirty="0">
                <a:solidFill>
                  <a:srgbClr val="4B5A70"/>
                </a:solidFill>
                <a:latin typeface="Arial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0000" y="4735000"/>
            <a:ext cx="5150000" cy="9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0000" y="4780000"/>
            <a:ext cx="493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Prediction interval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0000" y="4960000"/>
            <a:ext cx="489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[Lₜ, Uₜ] = x̂ₜ + μₑ ± kσₑ</a:t>
            </a:r>
          </a:p>
          <a:p>
            <a:pPr algn="ctr">
              <a:spcAft>
                <a:spcPts val="100"/>
              </a:spcAft>
            </a:pPr>
            <a:r>
              <a:rPr sz="1200">
                <a:solidFill>
                  <a:srgbClr val="152B45"/>
                </a:solidFill>
                <a:latin typeface="Cambria Math"/>
              </a:rPr>
              <a:t>aₜ = 1{xₜ &lt; Lₜ ∨ xₜ &gt; Uₜ}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0000" y="5430000"/>
            <a:ext cx="489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00" b="0">
                <a:solidFill>
                  <a:srgbClr val="4B5A70"/>
                </a:solidFill>
                <a:latin typeface="Arial"/>
              </a:rPr>
              <a:t>Аномалия фиксируется при выходе факта за прогнозный интервал.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Гиперпараметры и схема grid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В grid search перебирались параметры threshold calibration; фиксированные настройки score-моделей вынесены в таблицу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90000"/>
          <a:ext cx="505000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Score method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Настройки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STL-score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остаток после STL, period = 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ошибка прогноза additive trend/season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Adaptive HW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периодический refit каждые s точек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календарные признаки, iterations=300, depth=4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40000" y="1390000"/>
          <a:ext cx="525000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Threshold rule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Перебираемые параметры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Static threshold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k ∈ {2.0, 2.5, 3.0}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Rolling quantile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q ∈ {0.68, 0.95, 0.99}; window = 7..63 периодов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Context-aware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q ∈ {0.68, 0.95, 0.99}; hour / dayofweek / both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Prediction interval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k ∈ {2.0, 2.5, 3.0}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660000"/>
          <a:ext cx="505000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Блок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53B6B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54864" marR="54864" marT="36576" marB="36576"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Датасеты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taxi, ambient temperature, cpu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train до первой аномалии; test после неё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Метрики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Precision, Recall, F1, F0.5, Train FP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Итоговый объём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374E"/>
                          </a:solidFill>
                          <a:latin typeface="Arial"/>
                        </a:rPr>
                        <a:t>3 датасета × 4 score × 42 конфигурации = 504 запуска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000" y="3620000"/>
            <a:ext cx="1150000" cy="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NAB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ряд + разметка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000" y="3620000"/>
            <a:ext cx="1150000" cy="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Score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s_t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00" y="3620000"/>
            <a:ext cx="1150000" cy="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Threshold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τ_t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0000" y="3620000"/>
            <a:ext cx="1150000" cy="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Decision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a_t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0000" y="3840000"/>
            <a:ext cx="3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B769B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0000" y="3840000"/>
            <a:ext cx="3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B769B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50000" y="3840000"/>
            <a:ext cx="3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B769B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000" y="4650000"/>
            <a:ext cx="4950000" cy="80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3B6B"/>
                </a:solidFill>
                <a:latin typeface="Arial"/>
              </a:rPr>
              <a:t>Зачем нужен grid search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Он сравнивает не «лучший алгоритм вообще», а устойчивость разных правил threshold calibration на сезонных рядах с разной природой аномалий.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se_template_media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848" y="50292"/>
            <a:ext cx="12191695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sp>
        <p:nvSpPr>
          <p:cNvPr id="6" name="Text 2"/>
          <p:cNvSpPr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Лучшие запуски: попадания, пропуски и ложные срабатывания</a:t>
            </a:r>
          </a:p>
        </p:txBody>
      </p:sp>
      <p:sp>
        <p:nvSpPr>
          <p:cNvPr id="7" name="Text 3"/>
          <p:cNvSpPr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t>Маркеры уменьшены, чтобы интервальные аномалии и плотные срабатывания не перекрывали ряд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" y="1510000"/>
            <a:ext cx="3500000" cy="25500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000" y="1510000"/>
            <a:ext cx="3500000" cy="25500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000" y="1510000"/>
            <a:ext cx="3500000" cy="25500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00000" y="4210000"/>
            <a:ext cx="335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CPU: попадание в аномальные интервалы при умеренном Train FP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00000" y="4210000"/>
            <a:ext cx="33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Температура: высокий recall, но часть FP остаётся платой за чувствительность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00000" y="4210000"/>
            <a:ext cx="33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Такси: сильное снижение Train FP, консервативная детекция всплесков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80000" y="5480000"/>
            <a:ext cx="9800000" cy="54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Вывод по графикам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3374E"/>
                </a:solidFill>
                <a:latin typeface="Arial"/>
              </a:rPr>
              <a:t>Выбор threshold calibration меняет не только итоговую F0.5, но и визуальный характер детекции: число FP, плотность точек и пропущенные участки.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Вклад работы, ограничения и практический смысл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Авторский результат — не запуск известных методов, а сравнение связок score и threshold calibration в едином протоколе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00" y="1620000"/>
            <a:ext cx="5000000" cy="31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000" y="4880000"/>
            <a:ext cx="470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374E"/>
                </a:solidFill>
                <a:latin typeface="Arial"/>
              </a:rPr>
              <a:t>Итоговое сравнение F0.5: baseline против лучших связок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500000"/>
            <a:ext cx="4850000" cy="155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Вклад работы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сформулирована модульная схема: score → threshold calibration → decision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сравнены 4 типа score и 4 правила порога на сезонных рядах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показано влияние порога на precision и Train FP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3300000"/>
            <a:ext cx="485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Интерпретация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Оптимальная связка зависит от природы ряда: CPU лучше описывает residual-based score, температура и такси выигрывают от forecast-based адаптации.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4620000"/>
            <a:ext cx="4850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Ограничения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Point-wise scoring выбран для сопоставимости правил; event-based и NAB scoring остаются отдельным направлением проверки.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Top-3 конфигурации: качество и минимальный Train FP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Для каждого датасета показаны два лучших запуска по F0.5 и один запуск с минимальным train_fp_rate из result.csv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0000" y="1320000"/>
          <a:ext cx="10700000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Train FP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53B6B"/>
                          </a:solidFill>
                          <a:latin typeface="Arial"/>
                        </a:rPr>
                        <a:t>F0.5</a:t>
                      </a:r>
                    </a:p>
                  </a:txBody>
                  <a:tcPr marL="54864" marR="54864" marT="36576" marB="36576">
                    <a:solidFill>
                      <a:srgbClr val="E0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#1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STL-score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q=0,68; ctx=dow_hour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0,323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0,981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0,744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0,922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#2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STL-score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q=0,68; ctx=dow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0,320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0,984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0,737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0,922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min FP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q=0,99; ctx=dow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0,010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0,768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0,958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0,800</a:t>
                      </a:r>
                    </a:p>
                  </a:txBody>
                  <a:tcPr marL="54864" marR="54864" marT="36576" marB="36576"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Темп.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#1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Rolling q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q=0,68; w=63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0,307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0,797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0,841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0,805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Темп.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#2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Rolling q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q=0,68; w=56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0,308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0,800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0,809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0,802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Темп.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min FP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Static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k=3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0,692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0,994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0,737</a:t>
                      </a:r>
                    </a:p>
                  </a:txBody>
                  <a:tcPr marL="54864" marR="54864" marT="36576" marB="36576">
                    <a:solidFill>
                      <a:srgbClr val="EE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Такси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Rolling q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q=0,99; w=21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0,011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0,913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0,263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0,611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Такси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F0.5 #2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Rolling q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q=0,95; w=21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0,052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0,787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0,295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0,590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Такси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min FP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Adaptive CatBoost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Static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k=3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0,009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0,416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0,807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374E"/>
                          </a:solidFill>
                          <a:latin typeface="Arial"/>
                        </a:rPr>
                        <a:t>0,461</a:t>
                      </a:r>
                    </a:p>
                  </a:txBody>
                  <a:tcPr marL="54864" marR="54864" marT="36576" marB="36576"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28016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0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3B6B"/>
                </a:solidFill>
                <a:latin typeface="Arial"/>
              </a:rPr>
              <a:t>НИУ ВШЭ · ФКН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12801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30352"/>
            <a:ext cx="10607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53B6B"/>
                </a:solidFill>
                <a:latin typeface="Arial"/>
              </a:rPr>
              <a:t>Итоговые результаты: рост F0.5 и снижение ложных тревог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98755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3374E"/>
                </a:solidFill>
                <a:latin typeface="Arial"/>
              </a:rPr>
              <a:t>Главный выигрыш — более высокий precision и меньше шумных срабатываний при контроле recall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00" y="1450000"/>
            <a:ext cx="5200000" cy="35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0" y="1520000"/>
            <a:ext cx="2450000" cy="85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53B6B"/>
                </a:solidFill>
                <a:latin typeface="Arial"/>
              </a:rPr>
              <a:t>+10,2%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CPU: STL-score +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2670000"/>
            <a:ext cx="2450000" cy="85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53B6B"/>
                </a:solidFill>
                <a:latin typeface="Arial"/>
              </a:rPr>
              <a:t>+78,7%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температура: CatBoost + rolling 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3820000"/>
            <a:ext cx="2450000" cy="85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53B6B"/>
                </a:solidFill>
                <a:latin typeface="Arial"/>
              </a:rPr>
              <a:t>−97,1%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такси: снижение Train FP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0000" y="1660000"/>
            <a:ext cx="25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3B6B"/>
                </a:solidFill>
                <a:latin typeface="Arial"/>
              </a:rPr>
              <a:t>Основной вывод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threshold calibration существенно влияет на precision и Train FP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лучшая комбинация зависит от природы ряда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• F0.5 полезен как критерий для alert-heavy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5350000"/>
            <a:ext cx="8500000" cy="5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3B6B"/>
                </a:solidFill>
                <a:latin typeface="Arial"/>
              </a:rPr>
              <a:t>Практический смысл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3374E"/>
                </a:solidFill>
                <a:latin typeface="Arial"/>
              </a:rPr>
              <a:t>Порог нужно калибровать как отдельный слой системы: это снижает шум алертов без привязки к одной score-модели.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4351</Words>
  <Application>Microsoft Macintosh PowerPoint</Application>
  <PresentationFormat>Широкоэкранный</PresentationFormat>
  <Paragraphs>475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НИУ ВШЭ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D. P. Perevyshin</dc:creator>
  <cp:lastModifiedBy>Dmitry Prevyshin</cp:lastModifiedBy>
  <cp:revision>8</cp:revision>
  <dcterms:created xsi:type="dcterms:W3CDTF">2026-05-04T17:53:27Z</dcterms:created>
  <dcterms:modified xsi:type="dcterms:W3CDTF">2026-05-05T16:30:00Z</dcterms:modified>
</cp:coreProperties>
</file>